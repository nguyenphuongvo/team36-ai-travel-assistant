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5"/>
    <p:sldMasterId id="214748369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Manrope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79AE46-7497-45A1-AD55-3B5B6F1FCD43}">
  <a:tblStyle styleId="{3D79AE46-7497-45A1-AD55-3B5B6F1FCD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Manrope-bold.fntdata"/><Relationship Id="rId27" Type="http://schemas.openxmlformats.org/officeDocument/2006/relationships/font" Target="fonts/Manrope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09c716ff35_18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09c716ff35_18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09c716ff35_18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09c716ff35_18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09c716ff35_18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409c716ff35_18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09c716ff35_18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09c716ff35_18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09c716ff35_18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09c716ff35_18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09c716ff35_18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09c716ff35_18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09c716ff35_18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409c716ff35_18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09c716ff35_18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409c716ff35_18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409c716ff35_18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409c716ff35_18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9c716ff35_18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09c716ff35_18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409c716ff35_18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409c716ff35_18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a74d4151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a74d415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09c716ff35_18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409c716ff35_18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09c716ff35_18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409c716ff35_18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09c716ff35_18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09c716ff35_18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713100" y="2177150"/>
            <a:ext cx="5728200" cy="197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5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713100" y="4218898"/>
            <a:ext cx="4514100" cy="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713100" y="1360800"/>
            <a:ext cx="5966100" cy="81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15"/>
          <p:cNvSpPr txBox="1"/>
          <p:nvPr>
            <p:ph hasCustomPrompt="1" idx="2" type="title"/>
          </p:nvPr>
        </p:nvSpPr>
        <p:spPr>
          <a:xfrm>
            <a:off x="713100" y="543301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713100" y="2208500"/>
            <a:ext cx="44502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713100" y="1160389"/>
            <a:ext cx="77178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subTitle"/>
          </p:nvPr>
        </p:nvSpPr>
        <p:spPr>
          <a:xfrm>
            <a:off x="1512687" y="2862197"/>
            <a:ext cx="264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6" name="Google Shape;66;p17"/>
          <p:cNvSpPr txBox="1"/>
          <p:nvPr>
            <p:ph idx="2" type="subTitle"/>
          </p:nvPr>
        </p:nvSpPr>
        <p:spPr>
          <a:xfrm>
            <a:off x="1512688" y="3255797"/>
            <a:ext cx="26445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3" type="subTitle"/>
          </p:nvPr>
        </p:nvSpPr>
        <p:spPr>
          <a:xfrm>
            <a:off x="4986812" y="2862197"/>
            <a:ext cx="264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" name="Google Shape;68;p17"/>
          <p:cNvSpPr txBox="1"/>
          <p:nvPr>
            <p:ph idx="4" type="subTitle"/>
          </p:nvPr>
        </p:nvSpPr>
        <p:spPr>
          <a:xfrm>
            <a:off x="4986813" y="3255797"/>
            <a:ext cx="26445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4699769" y="1641984"/>
            <a:ext cx="36780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subTitle"/>
          </p:nvPr>
        </p:nvSpPr>
        <p:spPr>
          <a:xfrm>
            <a:off x="4699769" y="2723659"/>
            <a:ext cx="3442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1021170" y="950575"/>
            <a:ext cx="7101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idx="1" type="subTitle"/>
          </p:nvPr>
        </p:nvSpPr>
        <p:spPr>
          <a:xfrm>
            <a:off x="3578600" y="3299750"/>
            <a:ext cx="4850700" cy="13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" name="Google Shape;78;p21"/>
          <p:cNvSpPr txBox="1"/>
          <p:nvPr>
            <p:ph type="title"/>
          </p:nvPr>
        </p:nvSpPr>
        <p:spPr>
          <a:xfrm>
            <a:off x="4508100" y="2521275"/>
            <a:ext cx="3921300" cy="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200"/>
              <a:buNone/>
              <a:defRPr sz="36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816150" y="4063551"/>
            <a:ext cx="7511700" cy="600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hasCustomPrompt="1" type="title"/>
          </p:nvPr>
        </p:nvSpPr>
        <p:spPr>
          <a:xfrm>
            <a:off x="713100" y="890222"/>
            <a:ext cx="6453000" cy="12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 sz="80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83" name="Google Shape;83;p23"/>
          <p:cNvSpPr txBox="1"/>
          <p:nvPr>
            <p:ph idx="1" type="subTitle"/>
          </p:nvPr>
        </p:nvSpPr>
        <p:spPr>
          <a:xfrm>
            <a:off x="713100" y="2324436"/>
            <a:ext cx="4485000" cy="3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87" name="Google Shape;87;p25"/>
          <p:cNvSpPr txBox="1"/>
          <p:nvPr>
            <p:ph idx="1" type="subTitle"/>
          </p:nvPr>
        </p:nvSpPr>
        <p:spPr>
          <a:xfrm>
            <a:off x="787791" y="1834025"/>
            <a:ext cx="2354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" name="Google Shape;88;p25"/>
          <p:cNvSpPr txBox="1"/>
          <p:nvPr>
            <p:ph idx="2" type="subTitle"/>
          </p:nvPr>
        </p:nvSpPr>
        <p:spPr>
          <a:xfrm>
            <a:off x="787791" y="2227625"/>
            <a:ext cx="235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hasCustomPrompt="1" idx="3" type="title"/>
          </p:nvPr>
        </p:nvSpPr>
        <p:spPr>
          <a:xfrm>
            <a:off x="1357500" y="1404824"/>
            <a:ext cx="1215000" cy="4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0" name="Google Shape;90;p25"/>
          <p:cNvSpPr txBox="1"/>
          <p:nvPr>
            <p:ph idx="4" type="subTitle"/>
          </p:nvPr>
        </p:nvSpPr>
        <p:spPr>
          <a:xfrm>
            <a:off x="3394791" y="1834025"/>
            <a:ext cx="2354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25"/>
          <p:cNvSpPr txBox="1"/>
          <p:nvPr>
            <p:ph idx="5" type="subTitle"/>
          </p:nvPr>
        </p:nvSpPr>
        <p:spPr>
          <a:xfrm>
            <a:off x="3394791" y="2227625"/>
            <a:ext cx="235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hasCustomPrompt="1" idx="6" type="title"/>
          </p:nvPr>
        </p:nvSpPr>
        <p:spPr>
          <a:xfrm>
            <a:off x="3964500" y="1404824"/>
            <a:ext cx="1215000" cy="4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3" name="Google Shape;93;p25"/>
          <p:cNvSpPr txBox="1"/>
          <p:nvPr>
            <p:ph idx="7" type="subTitle"/>
          </p:nvPr>
        </p:nvSpPr>
        <p:spPr>
          <a:xfrm>
            <a:off x="6001791" y="1834025"/>
            <a:ext cx="2354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" name="Google Shape;94;p25"/>
          <p:cNvSpPr txBox="1"/>
          <p:nvPr>
            <p:ph idx="8" type="subTitle"/>
          </p:nvPr>
        </p:nvSpPr>
        <p:spPr>
          <a:xfrm>
            <a:off x="6001791" y="2227625"/>
            <a:ext cx="235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hasCustomPrompt="1" idx="9" type="title"/>
          </p:nvPr>
        </p:nvSpPr>
        <p:spPr>
          <a:xfrm>
            <a:off x="6571500" y="1404824"/>
            <a:ext cx="1215000" cy="4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6" name="Google Shape;96;p25"/>
          <p:cNvSpPr txBox="1"/>
          <p:nvPr>
            <p:ph idx="13" type="subTitle"/>
          </p:nvPr>
        </p:nvSpPr>
        <p:spPr>
          <a:xfrm>
            <a:off x="787791" y="3516846"/>
            <a:ext cx="2354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" name="Google Shape;97;p25"/>
          <p:cNvSpPr txBox="1"/>
          <p:nvPr>
            <p:ph idx="14" type="subTitle"/>
          </p:nvPr>
        </p:nvSpPr>
        <p:spPr>
          <a:xfrm>
            <a:off x="787791" y="3910446"/>
            <a:ext cx="235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hasCustomPrompt="1" idx="15" type="title"/>
          </p:nvPr>
        </p:nvSpPr>
        <p:spPr>
          <a:xfrm>
            <a:off x="1357500" y="3087688"/>
            <a:ext cx="1215000" cy="4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9" name="Google Shape;99;p25"/>
          <p:cNvSpPr txBox="1"/>
          <p:nvPr>
            <p:ph idx="16" type="subTitle"/>
          </p:nvPr>
        </p:nvSpPr>
        <p:spPr>
          <a:xfrm>
            <a:off x="3394791" y="3516846"/>
            <a:ext cx="2354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" name="Google Shape;100;p25"/>
          <p:cNvSpPr txBox="1"/>
          <p:nvPr>
            <p:ph idx="17" type="subTitle"/>
          </p:nvPr>
        </p:nvSpPr>
        <p:spPr>
          <a:xfrm>
            <a:off x="3394791" y="3910446"/>
            <a:ext cx="235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hasCustomPrompt="1" idx="18" type="title"/>
          </p:nvPr>
        </p:nvSpPr>
        <p:spPr>
          <a:xfrm>
            <a:off x="3964500" y="3087688"/>
            <a:ext cx="1215000" cy="4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02" name="Google Shape;102;p25"/>
          <p:cNvSpPr txBox="1"/>
          <p:nvPr>
            <p:ph idx="19" type="subTitle"/>
          </p:nvPr>
        </p:nvSpPr>
        <p:spPr>
          <a:xfrm>
            <a:off x="6001791" y="3516846"/>
            <a:ext cx="2354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25"/>
          <p:cNvSpPr txBox="1"/>
          <p:nvPr>
            <p:ph idx="20" type="subTitle"/>
          </p:nvPr>
        </p:nvSpPr>
        <p:spPr>
          <a:xfrm>
            <a:off x="6001791" y="3910446"/>
            <a:ext cx="235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hasCustomPrompt="1" idx="21" type="title"/>
          </p:nvPr>
        </p:nvSpPr>
        <p:spPr>
          <a:xfrm>
            <a:off x="6571500" y="3087688"/>
            <a:ext cx="1215000" cy="4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7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2464800" y="3355099"/>
            <a:ext cx="5966100" cy="81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7" name="Google Shape;107;p26"/>
          <p:cNvSpPr txBox="1"/>
          <p:nvPr>
            <p:ph hasCustomPrompt="1" idx="2" type="title"/>
          </p:nvPr>
        </p:nvSpPr>
        <p:spPr>
          <a:xfrm>
            <a:off x="7057800" y="2537600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8" name="Google Shape;108;p26"/>
          <p:cNvSpPr txBox="1"/>
          <p:nvPr>
            <p:ph idx="1" type="subTitle"/>
          </p:nvPr>
        </p:nvSpPr>
        <p:spPr>
          <a:xfrm>
            <a:off x="3980700" y="4202799"/>
            <a:ext cx="44502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713100" y="3351688"/>
            <a:ext cx="5966100" cy="81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1" name="Google Shape;111;p27"/>
          <p:cNvSpPr txBox="1"/>
          <p:nvPr>
            <p:ph hasCustomPrompt="1" idx="2" type="title"/>
          </p:nvPr>
        </p:nvSpPr>
        <p:spPr>
          <a:xfrm>
            <a:off x="713100" y="2534189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2" name="Google Shape;112;p27"/>
          <p:cNvSpPr txBox="1"/>
          <p:nvPr>
            <p:ph idx="1" type="subTitle"/>
          </p:nvPr>
        </p:nvSpPr>
        <p:spPr>
          <a:xfrm>
            <a:off x="713100" y="4199388"/>
            <a:ext cx="44502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BLANK_21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2464800" y="1356899"/>
            <a:ext cx="5966100" cy="81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" name="Google Shape;115;p28"/>
          <p:cNvSpPr txBox="1"/>
          <p:nvPr>
            <p:ph hasCustomPrompt="1" idx="2" type="title"/>
          </p:nvPr>
        </p:nvSpPr>
        <p:spPr>
          <a:xfrm>
            <a:off x="7057800" y="539400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6" name="Google Shape;116;p28"/>
          <p:cNvSpPr txBox="1"/>
          <p:nvPr>
            <p:ph idx="1" type="subTitle"/>
          </p:nvPr>
        </p:nvSpPr>
        <p:spPr>
          <a:xfrm>
            <a:off x="3980700" y="2204599"/>
            <a:ext cx="44502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BLANK_20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1592702" y="1356950"/>
            <a:ext cx="5966100" cy="81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9" name="Google Shape;119;p29"/>
          <p:cNvSpPr txBox="1"/>
          <p:nvPr>
            <p:ph hasCustomPrompt="1" idx="2" type="title"/>
          </p:nvPr>
        </p:nvSpPr>
        <p:spPr>
          <a:xfrm>
            <a:off x="3889202" y="539451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20" name="Google Shape;120;p29"/>
          <p:cNvSpPr txBox="1"/>
          <p:nvPr>
            <p:ph idx="1" type="subTitle"/>
          </p:nvPr>
        </p:nvSpPr>
        <p:spPr>
          <a:xfrm>
            <a:off x="2350652" y="2204650"/>
            <a:ext cx="44502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BLANK_19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/>
          <p:nvPr>
            <p:ph type="title"/>
          </p:nvPr>
        </p:nvSpPr>
        <p:spPr>
          <a:xfrm>
            <a:off x="1592702" y="3355099"/>
            <a:ext cx="5966100" cy="81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3" name="Google Shape;123;p30"/>
          <p:cNvSpPr txBox="1"/>
          <p:nvPr>
            <p:ph hasCustomPrompt="1" idx="2" type="title"/>
          </p:nvPr>
        </p:nvSpPr>
        <p:spPr>
          <a:xfrm>
            <a:off x="3889202" y="2537600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24" name="Google Shape;124;p30"/>
          <p:cNvSpPr txBox="1"/>
          <p:nvPr>
            <p:ph idx="1" type="subTitle"/>
          </p:nvPr>
        </p:nvSpPr>
        <p:spPr>
          <a:xfrm>
            <a:off x="2350652" y="4202799"/>
            <a:ext cx="44502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6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type="title"/>
          </p:nvPr>
        </p:nvSpPr>
        <p:spPr>
          <a:xfrm>
            <a:off x="5039688" y="2594378"/>
            <a:ext cx="3389700" cy="3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8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27" name="Google Shape;127;p31"/>
          <p:cNvSpPr txBox="1"/>
          <p:nvPr>
            <p:ph idx="1" type="subTitle"/>
          </p:nvPr>
        </p:nvSpPr>
        <p:spPr>
          <a:xfrm>
            <a:off x="4071475" y="828302"/>
            <a:ext cx="4357800" cy="16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6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30" name="Google Shape;130;p32"/>
          <p:cNvSpPr txBox="1"/>
          <p:nvPr>
            <p:ph idx="1" type="subTitle"/>
          </p:nvPr>
        </p:nvSpPr>
        <p:spPr>
          <a:xfrm>
            <a:off x="1899701" y="1912950"/>
            <a:ext cx="1386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32"/>
          <p:cNvSpPr txBox="1"/>
          <p:nvPr>
            <p:ph idx="2" type="subTitle"/>
          </p:nvPr>
        </p:nvSpPr>
        <p:spPr>
          <a:xfrm>
            <a:off x="1080882" y="2306539"/>
            <a:ext cx="22056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3" type="subTitle"/>
          </p:nvPr>
        </p:nvSpPr>
        <p:spPr>
          <a:xfrm>
            <a:off x="5858551" y="3077875"/>
            <a:ext cx="1386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" name="Google Shape;133;p32"/>
          <p:cNvSpPr txBox="1"/>
          <p:nvPr>
            <p:ph idx="4" type="subTitle"/>
          </p:nvPr>
        </p:nvSpPr>
        <p:spPr>
          <a:xfrm>
            <a:off x="5858557" y="3471475"/>
            <a:ext cx="22056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36" name="Google Shape;136;p33"/>
          <p:cNvSpPr txBox="1"/>
          <p:nvPr>
            <p:ph idx="1" type="body"/>
          </p:nvPr>
        </p:nvSpPr>
        <p:spPr>
          <a:xfrm>
            <a:off x="713100" y="1317450"/>
            <a:ext cx="3688200" cy="3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2" type="body"/>
          </p:nvPr>
        </p:nvSpPr>
        <p:spPr>
          <a:xfrm>
            <a:off x="4742700" y="1317450"/>
            <a:ext cx="3688200" cy="3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40" name="Google Shape;140;p34"/>
          <p:cNvSpPr txBox="1"/>
          <p:nvPr>
            <p:ph idx="1" type="subTitle"/>
          </p:nvPr>
        </p:nvSpPr>
        <p:spPr>
          <a:xfrm>
            <a:off x="908301" y="3026892"/>
            <a:ext cx="2205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908301" y="3420492"/>
            <a:ext cx="22056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3" type="subTitle"/>
          </p:nvPr>
        </p:nvSpPr>
        <p:spPr>
          <a:xfrm>
            <a:off x="3469926" y="3026892"/>
            <a:ext cx="2205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34"/>
          <p:cNvSpPr txBox="1"/>
          <p:nvPr>
            <p:ph idx="4" type="subTitle"/>
          </p:nvPr>
        </p:nvSpPr>
        <p:spPr>
          <a:xfrm>
            <a:off x="3469926" y="3420492"/>
            <a:ext cx="22056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4"/>
          <p:cNvSpPr txBox="1"/>
          <p:nvPr>
            <p:ph idx="5" type="subTitle"/>
          </p:nvPr>
        </p:nvSpPr>
        <p:spPr>
          <a:xfrm>
            <a:off x="6031551" y="3026892"/>
            <a:ext cx="2205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5" name="Google Shape;145;p34"/>
          <p:cNvSpPr txBox="1"/>
          <p:nvPr>
            <p:ph idx="6" type="subTitle"/>
          </p:nvPr>
        </p:nvSpPr>
        <p:spPr>
          <a:xfrm>
            <a:off x="6031551" y="3420492"/>
            <a:ext cx="22056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4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48" name="Google Shape;148;p35"/>
          <p:cNvSpPr txBox="1"/>
          <p:nvPr>
            <p:ph idx="1" type="subTitle"/>
          </p:nvPr>
        </p:nvSpPr>
        <p:spPr>
          <a:xfrm>
            <a:off x="2020116" y="1664394"/>
            <a:ext cx="11535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9" name="Google Shape;149;p35"/>
          <p:cNvSpPr txBox="1"/>
          <p:nvPr>
            <p:ph idx="2" type="subTitle"/>
          </p:nvPr>
        </p:nvSpPr>
        <p:spPr>
          <a:xfrm>
            <a:off x="968141" y="2015267"/>
            <a:ext cx="2205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5"/>
          <p:cNvSpPr txBox="1"/>
          <p:nvPr>
            <p:ph idx="3" type="subTitle"/>
          </p:nvPr>
        </p:nvSpPr>
        <p:spPr>
          <a:xfrm>
            <a:off x="5970766" y="1664394"/>
            <a:ext cx="11535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1" name="Google Shape;151;p35"/>
          <p:cNvSpPr txBox="1"/>
          <p:nvPr>
            <p:ph idx="4" type="subTitle"/>
          </p:nvPr>
        </p:nvSpPr>
        <p:spPr>
          <a:xfrm>
            <a:off x="5970766" y="2015267"/>
            <a:ext cx="2205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5" type="subTitle"/>
          </p:nvPr>
        </p:nvSpPr>
        <p:spPr>
          <a:xfrm>
            <a:off x="2020116" y="3134575"/>
            <a:ext cx="11535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3" name="Google Shape;153;p35"/>
          <p:cNvSpPr txBox="1"/>
          <p:nvPr>
            <p:ph idx="6" type="subTitle"/>
          </p:nvPr>
        </p:nvSpPr>
        <p:spPr>
          <a:xfrm>
            <a:off x="968141" y="3485573"/>
            <a:ext cx="2205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7" type="subTitle"/>
          </p:nvPr>
        </p:nvSpPr>
        <p:spPr>
          <a:xfrm>
            <a:off x="5970766" y="3134575"/>
            <a:ext cx="11535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5"/>
          <p:cNvSpPr txBox="1"/>
          <p:nvPr>
            <p:ph idx="8" type="subTitle"/>
          </p:nvPr>
        </p:nvSpPr>
        <p:spPr>
          <a:xfrm>
            <a:off x="5970766" y="3485573"/>
            <a:ext cx="2205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4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58" name="Google Shape;158;p36"/>
          <p:cNvSpPr txBox="1"/>
          <p:nvPr>
            <p:ph idx="1" type="subTitle"/>
          </p:nvPr>
        </p:nvSpPr>
        <p:spPr>
          <a:xfrm>
            <a:off x="2372689" y="1927359"/>
            <a:ext cx="20136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6"/>
          <p:cNvSpPr txBox="1"/>
          <p:nvPr>
            <p:ph idx="2" type="subTitle"/>
          </p:nvPr>
        </p:nvSpPr>
        <p:spPr>
          <a:xfrm>
            <a:off x="2372689" y="2278234"/>
            <a:ext cx="201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3" type="subTitle"/>
          </p:nvPr>
        </p:nvSpPr>
        <p:spPr>
          <a:xfrm>
            <a:off x="6079914" y="1927359"/>
            <a:ext cx="20136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36"/>
          <p:cNvSpPr txBox="1"/>
          <p:nvPr>
            <p:ph idx="4" type="subTitle"/>
          </p:nvPr>
        </p:nvSpPr>
        <p:spPr>
          <a:xfrm>
            <a:off x="6079914" y="2278234"/>
            <a:ext cx="201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5" type="subTitle"/>
          </p:nvPr>
        </p:nvSpPr>
        <p:spPr>
          <a:xfrm>
            <a:off x="2372689" y="3557562"/>
            <a:ext cx="20136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3" name="Google Shape;163;p36"/>
          <p:cNvSpPr txBox="1"/>
          <p:nvPr>
            <p:ph idx="6" type="subTitle"/>
          </p:nvPr>
        </p:nvSpPr>
        <p:spPr>
          <a:xfrm>
            <a:off x="2372689" y="3908561"/>
            <a:ext cx="201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6"/>
          <p:cNvSpPr txBox="1"/>
          <p:nvPr>
            <p:ph idx="7" type="subTitle"/>
          </p:nvPr>
        </p:nvSpPr>
        <p:spPr>
          <a:xfrm>
            <a:off x="6079914" y="3557562"/>
            <a:ext cx="2013600" cy="3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5" name="Google Shape;165;p36"/>
          <p:cNvSpPr txBox="1"/>
          <p:nvPr>
            <p:ph idx="8" type="subTitle"/>
          </p:nvPr>
        </p:nvSpPr>
        <p:spPr>
          <a:xfrm>
            <a:off x="6079914" y="3908561"/>
            <a:ext cx="201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5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7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68" name="Google Shape;168;p37"/>
          <p:cNvSpPr txBox="1"/>
          <p:nvPr>
            <p:ph idx="2" type="title"/>
          </p:nvPr>
        </p:nvSpPr>
        <p:spPr>
          <a:xfrm>
            <a:off x="774079" y="3071843"/>
            <a:ext cx="1776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37"/>
          <p:cNvSpPr txBox="1"/>
          <p:nvPr>
            <p:ph idx="1" type="subTitle"/>
          </p:nvPr>
        </p:nvSpPr>
        <p:spPr>
          <a:xfrm>
            <a:off x="774079" y="3451163"/>
            <a:ext cx="17763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7"/>
          <p:cNvSpPr txBox="1"/>
          <p:nvPr>
            <p:ph idx="3" type="title"/>
          </p:nvPr>
        </p:nvSpPr>
        <p:spPr>
          <a:xfrm>
            <a:off x="2714080" y="3071843"/>
            <a:ext cx="1776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1" name="Google Shape;171;p37"/>
          <p:cNvSpPr txBox="1"/>
          <p:nvPr>
            <p:ph idx="4" type="subTitle"/>
          </p:nvPr>
        </p:nvSpPr>
        <p:spPr>
          <a:xfrm>
            <a:off x="2714080" y="3451163"/>
            <a:ext cx="17763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7"/>
          <p:cNvSpPr txBox="1"/>
          <p:nvPr>
            <p:ph idx="5" type="title"/>
          </p:nvPr>
        </p:nvSpPr>
        <p:spPr>
          <a:xfrm>
            <a:off x="4654074" y="3071843"/>
            <a:ext cx="1776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3" name="Google Shape;173;p37"/>
          <p:cNvSpPr txBox="1"/>
          <p:nvPr>
            <p:ph idx="6" type="subTitle"/>
          </p:nvPr>
        </p:nvSpPr>
        <p:spPr>
          <a:xfrm>
            <a:off x="4654074" y="3451163"/>
            <a:ext cx="17763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7"/>
          <p:cNvSpPr txBox="1"/>
          <p:nvPr>
            <p:ph idx="7" type="title"/>
          </p:nvPr>
        </p:nvSpPr>
        <p:spPr>
          <a:xfrm>
            <a:off x="6594075" y="3071843"/>
            <a:ext cx="1776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37"/>
          <p:cNvSpPr txBox="1"/>
          <p:nvPr>
            <p:ph idx="8" type="subTitle"/>
          </p:nvPr>
        </p:nvSpPr>
        <p:spPr>
          <a:xfrm>
            <a:off x="6594075" y="3451163"/>
            <a:ext cx="17763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3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78" name="Google Shape;178;p38"/>
          <p:cNvSpPr txBox="1"/>
          <p:nvPr>
            <p:ph idx="2" type="title"/>
          </p:nvPr>
        </p:nvSpPr>
        <p:spPr>
          <a:xfrm>
            <a:off x="2272855" y="1366950"/>
            <a:ext cx="1264800" cy="3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38"/>
          <p:cNvSpPr txBox="1"/>
          <p:nvPr>
            <p:ph idx="1" type="subTitle"/>
          </p:nvPr>
        </p:nvSpPr>
        <p:spPr>
          <a:xfrm>
            <a:off x="2272855" y="1731038"/>
            <a:ext cx="1927800" cy="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8"/>
          <p:cNvSpPr txBox="1"/>
          <p:nvPr>
            <p:ph idx="3" type="title"/>
          </p:nvPr>
        </p:nvSpPr>
        <p:spPr>
          <a:xfrm>
            <a:off x="5896955" y="3588081"/>
            <a:ext cx="1264800" cy="3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38"/>
          <p:cNvSpPr txBox="1"/>
          <p:nvPr>
            <p:ph idx="4" type="subTitle"/>
          </p:nvPr>
        </p:nvSpPr>
        <p:spPr>
          <a:xfrm>
            <a:off x="5896955" y="3952739"/>
            <a:ext cx="1927800" cy="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5" type="title"/>
          </p:nvPr>
        </p:nvSpPr>
        <p:spPr>
          <a:xfrm>
            <a:off x="5896955" y="1366950"/>
            <a:ext cx="1264800" cy="3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3" name="Google Shape;183;p38"/>
          <p:cNvSpPr txBox="1"/>
          <p:nvPr>
            <p:ph idx="6" type="subTitle"/>
          </p:nvPr>
        </p:nvSpPr>
        <p:spPr>
          <a:xfrm>
            <a:off x="5896955" y="1731038"/>
            <a:ext cx="1927800" cy="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7" type="title"/>
          </p:nvPr>
        </p:nvSpPr>
        <p:spPr>
          <a:xfrm>
            <a:off x="2272855" y="2477515"/>
            <a:ext cx="1264800" cy="3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38"/>
          <p:cNvSpPr txBox="1"/>
          <p:nvPr>
            <p:ph idx="8" type="subTitle"/>
          </p:nvPr>
        </p:nvSpPr>
        <p:spPr>
          <a:xfrm>
            <a:off x="2272855" y="2841888"/>
            <a:ext cx="1927800" cy="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8"/>
          <p:cNvSpPr txBox="1"/>
          <p:nvPr>
            <p:ph idx="9" type="title"/>
          </p:nvPr>
        </p:nvSpPr>
        <p:spPr>
          <a:xfrm>
            <a:off x="2272855" y="3588080"/>
            <a:ext cx="1264800" cy="3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38"/>
          <p:cNvSpPr txBox="1"/>
          <p:nvPr>
            <p:ph idx="13" type="subTitle"/>
          </p:nvPr>
        </p:nvSpPr>
        <p:spPr>
          <a:xfrm>
            <a:off x="2272855" y="3952739"/>
            <a:ext cx="1927800" cy="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8"/>
          <p:cNvSpPr txBox="1"/>
          <p:nvPr>
            <p:ph idx="14" type="title"/>
          </p:nvPr>
        </p:nvSpPr>
        <p:spPr>
          <a:xfrm>
            <a:off x="5896955" y="2477515"/>
            <a:ext cx="1264800" cy="3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8"/>
          <p:cNvSpPr txBox="1"/>
          <p:nvPr>
            <p:ph idx="15" type="subTitle"/>
          </p:nvPr>
        </p:nvSpPr>
        <p:spPr>
          <a:xfrm>
            <a:off x="5896955" y="2841888"/>
            <a:ext cx="1927800" cy="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9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 txBox="1"/>
          <p:nvPr>
            <p:ph hasCustomPrompt="1" type="title"/>
          </p:nvPr>
        </p:nvSpPr>
        <p:spPr>
          <a:xfrm>
            <a:off x="838875" y="2343453"/>
            <a:ext cx="2209200" cy="82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39"/>
          <p:cNvSpPr txBox="1"/>
          <p:nvPr>
            <p:ph hasCustomPrompt="1" idx="2" type="title"/>
          </p:nvPr>
        </p:nvSpPr>
        <p:spPr>
          <a:xfrm>
            <a:off x="3467400" y="2343453"/>
            <a:ext cx="2209200" cy="82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39"/>
          <p:cNvSpPr txBox="1"/>
          <p:nvPr>
            <p:ph hasCustomPrompt="1" idx="3" type="title"/>
          </p:nvPr>
        </p:nvSpPr>
        <p:spPr>
          <a:xfrm>
            <a:off x="6095925" y="2343453"/>
            <a:ext cx="2209200" cy="82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39"/>
          <p:cNvSpPr txBox="1"/>
          <p:nvPr>
            <p:ph idx="4" type="title"/>
          </p:nvPr>
        </p:nvSpPr>
        <p:spPr>
          <a:xfrm>
            <a:off x="838875" y="3282205"/>
            <a:ext cx="22092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39"/>
          <p:cNvSpPr txBox="1"/>
          <p:nvPr>
            <p:ph idx="1" type="subTitle"/>
          </p:nvPr>
        </p:nvSpPr>
        <p:spPr>
          <a:xfrm>
            <a:off x="838875" y="3644714"/>
            <a:ext cx="2209200" cy="8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9"/>
          <p:cNvSpPr txBox="1"/>
          <p:nvPr>
            <p:ph idx="5" type="title"/>
          </p:nvPr>
        </p:nvSpPr>
        <p:spPr>
          <a:xfrm>
            <a:off x="3467400" y="3282205"/>
            <a:ext cx="22092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7" name="Google Shape;197;p39"/>
          <p:cNvSpPr txBox="1"/>
          <p:nvPr>
            <p:ph idx="6" type="subTitle"/>
          </p:nvPr>
        </p:nvSpPr>
        <p:spPr>
          <a:xfrm>
            <a:off x="3467400" y="3644714"/>
            <a:ext cx="2209200" cy="8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9"/>
          <p:cNvSpPr txBox="1"/>
          <p:nvPr>
            <p:ph idx="7" type="title"/>
          </p:nvPr>
        </p:nvSpPr>
        <p:spPr>
          <a:xfrm>
            <a:off x="6095925" y="3282205"/>
            <a:ext cx="22092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9" name="Google Shape;199;p39"/>
          <p:cNvSpPr txBox="1"/>
          <p:nvPr>
            <p:ph idx="8" type="subTitle"/>
          </p:nvPr>
        </p:nvSpPr>
        <p:spPr>
          <a:xfrm>
            <a:off x="6095925" y="3644714"/>
            <a:ext cx="2209200" cy="8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9"/>
          <p:cNvSpPr txBox="1"/>
          <p:nvPr>
            <p:ph idx="9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type="title"/>
          </p:nvPr>
        </p:nvSpPr>
        <p:spPr>
          <a:xfrm>
            <a:off x="713100" y="1201112"/>
            <a:ext cx="378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3" name="Google Shape;203;p40"/>
          <p:cNvSpPr txBox="1"/>
          <p:nvPr>
            <p:ph idx="1" type="subTitle"/>
          </p:nvPr>
        </p:nvSpPr>
        <p:spPr>
          <a:xfrm>
            <a:off x="713100" y="1841262"/>
            <a:ext cx="3425700" cy="2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title"/>
          </p:nvPr>
        </p:nvSpPr>
        <p:spPr>
          <a:xfrm>
            <a:off x="4489100" y="1622525"/>
            <a:ext cx="4020300" cy="10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6" name="Google Shape;206;p41"/>
          <p:cNvSpPr txBox="1"/>
          <p:nvPr>
            <p:ph idx="1" type="subTitle"/>
          </p:nvPr>
        </p:nvSpPr>
        <p:spPr>
          <a:xfrm>
            <a:off x="4489095" y="2691754"/>
            <a:ext cx="3425700" cy="8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8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209" name="Google Shape;209;p42"/>
          <p:cNvSpPr txBox="1"/>
          <p:nvPr>
            <p:ph idx="1" type="body"/>
          </p:nvPr>
        </p:nvSpPr>
        <p:spPr>
          <a:xfrm>
            <a:off x="713100" y="1317450"/>
            <a:ext cx="4199700" cy="14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0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>
            <p:ph type="title"/>
          </p:nvPr>
        </p:nvSpPr>
        <p:spPr>
          <a:xfrm>
            <a:off x="713225" y="709903"/>
            <a:ext cx="3770400" cy="95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60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212" name="Google Shape;212;p43"/>
          <p:cNvSpPr txBox="1"/>
          <p:nvPr>
            <p:ph idx="1" type="subTitle"/>
          </p:nvPr>
        </p:nvSpPr>
        <p:spPr>
          <a:xfrm>
            <a:off x="713100" y="1766050"/>
            <a:ext cx="3148200" cy="10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3"/>
          <p:cNvSpPr txBox="1"/>
          <p:nvPr/>
        </p:nvSpPr>
        <p:spPr>
          <a:xfrm>
            <a:off x="713100" y="3509320"/>
            <a:ext cx="33564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infographics &amp; images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2">
    <p:bg>
      <p:bgPr>
        <a:solidFill>
          <a:schemeClr val="dk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figma.com/design/5IDeFg1AfgJlCAEbrOkjFQ/Team-36-Sprint?node-id=0-1&amp;t=xEby0BakEYK58b53-1" TargetMode="External"/><Relationship Id="rId4" Type="http://schemas.openxmlformats.org/officeDocument/2006/relationships/hyperlink" Target="https://www.figma.com/proto/5IDeFg1AfgJlCAEbrOkjFQ/Team-36-Sprint?node-id=24-2229&amp;starting-point-node-id=24%3A2229&amp;t=CpHQjrQuCnsc6Kko-1" TargetMode="External"/><Relationship Id="rId5" Type="http://schemas.openxmlformats.org/officeDocument/2006/relationships/hyperlink" Target="https://www.figma.com/proto/5IDeFg1AfgJlCAEbrOkjFQ/Team-36-Sprint?node-id=24-3263&amp;t=VZR6o8h0oShLe0L7-1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next.js" TargetMode="External"/><Relationship Id="rId4" Type="http://schemas.openxmlformats.org/officeDocument/2006/relationships/hyperlink" Target="http://node.j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type="title"/>
          </p:nvPr>
        </p:nvSpPr>
        <p:spPr>
          <a:xfrm>
            <a:off x="819600" y="275525"/>
            <a:ext cx="3164100" cy="50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Project Overview</a:t>
            </a:r>
            <a:endParaRPr sz="2400"/>
          </a:p>
        </p:txBody>
      </p:sp>
      <p:sp>
        <p:nvSpPr>
          <p:cNvPr id="221" name="Google Shape;221;p46"/>
          <p:cNvSpPr txBox="1"/>
          <p:nvPr>
            <p:ph idx="2" type="title"/>
          </p:nvPr>
        </p:nvSpPr>
        <p:spPr>
          <a:xfrm>
            <a:off x="178375" y="157025"/>
            <a:ext cx="1010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01</a:t>
            </a:r>
            <a:endParaRPr sz="3600"/>
          </a:p>
        </p:txBody>
      </p:sp>
      <p:sp>
        <p:nvSpPr>
          <p:cNvPr id="222" name="Google Shape;222;p46"/>
          <p:cNvSpPr txBox="1"/>
          <p:nvPr/>
        </p:nvSpPr>
        <p:spPr>
          <a:xfrm>
            <a:off x="252600" y="1079525"/>
            <a:ext cx="21597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5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system:</a:t>
            </a:r>
            <a:endParaRPr b="1" sz="1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75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165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Travel accessibility application featuring airport and airline information with a chatbot help functionality.</a:t>
            </a:r>
            <a:endParaRPr sz="165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46"/>
          <p:cNvSpPr txBox="1"/>
          <p:nvPr/>
        </p:nvSpPr>
        <p:spPr>
          <a:xfrm>
            <a:off x="2412308" y="1079525"/>
            <a:ext cx="21597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5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we’re improving:</a:t>
            </a:r>
            <a:endParaRPr b="1" sz="1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AI Chatbot functionality in the application to give better and more detailed answers to users.</a:t>
            </a:r>
            <a:endParaRPr sz="165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46"/>
          <p:cNvSpPr txBox="1"/>
          <p:nvPr/>
        </p:nvSpPr>
        <p:spPr>
          <a:xfrm>
            <a:off x="4571992" y="1079525"/>
            <a:ext cx="21597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5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Who is the target audience of the app?</a:t>
            </a:r>
            <a:endParaRPr b="1" sz="1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PRMs </a:t>
            </a:r>
            <a:endParaRPr sz="165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(Passengers with reduced mobility)</a:t>
            </a:r>
            <a:endParaRPr sz="165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46"/>
          <p:cNvSpPr txBox="1"/>
          <p:nvPr/>
        </p:nvSpPr>
        <p:spPr>
          <a:xfrm>
            <a:off x="6731696" y="1045950"/>
            <a:ext cx="2159700" cy="30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56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is the intended improved experience?</a:t>
            </a:r>
            <a:endParaRPr b="1" sz="1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ChatGPT-like text response with supporting links/picture/information below the text response + service integration</a:t>
            </a:r>
            <a:endParaRPr sz="165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 txBox="1"/>
          <p:nvPr>
            <p:ph type="title"/>
          </p:nvPr>
        </p:nvSpPr>
        <p:spPr>
          <a:xfrm>
            <a:off x="855850" y="151075"/>
            <a:ext cx="7477800" cy="6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Original Sprint 1 Plan: What we planned to deliver </a:t>
            </a:r>
            <a:endParaRPr sz="2400"/>
          </a:p>
        </p:txBody>
      </p:sp>
      <p:sp>
        <p:nvSpPr>
          <p:cNvPr id="231" name="Google Shape;231;p47"/>
          <p:cNvSpPr txBox="1"/>
          <p:nvPr>
            <p:ph idx="2" type="title"/>
          </p:nvPr>
        </p:nvSpPr>
        <p:spPr>
          <a:xfrm>
            <a:off x="105175" y="151076"/>
            <a:ext cx="1373100" cy="6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02</a:t>
            </a:r>
            <a:endParaRPr sz="3600"/>
          </a:p>
        </p:txBody>
      </p:sp>
      <p:graphicFrame>
        <p:nvGraphicFramePr>
          <p:cNvPr id="232" name="Google Shape;232;p47"/>
          <p:cNvGraphicFramePr/>
          <p:nvPr/>
        </p:nvGraphicFramePr>
        <p:xfrm>
          <a:off x="626950" y="10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{3D79AE46-7497-45A1-AD55-3B5B6F1FCD43}</a:tableStyleId>
              </a:tblPr>
              <a:tblGrid>
                <a:gridCol w="2645200"/>
                <a:gridCol w="2645200"/>
                <a:gridCol w="2645200"/>
              </a:tblGrid>
              <a:tr h="45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Week 1: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Week 2: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Week 3: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Project repository and development environment setup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Client requirements clarification and prioritisation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Finalise MVP requirements and acceptance criteria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Establish application architecture and technology stack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Accessible traveller user journey analysis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Create accessible interface wireframes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Initial client requirements analysis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AI and third-party service research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Finalise API and data requirements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User needs and accessibility research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Initial travel assistant user flow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Sprint 1 review and client alignment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Project documentation and requirements coordination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Technical feasibility review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Finalise technical architecture and development environment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8"/>
          <p:cNvSpPr txBox="1"/>
          <p:nvPr>
            <p:ph type="title"/>
          </p:nvPr>
        </p:nvSpPr>
        <p:spPr>
          <a:xfrm>
            <a:off x="855851" y="189192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Actual </a:t>
            </a:r>
            <a:r>
              <a:rPr lang="en-GB" sz="2400"/>
              <a:t>Achievement: What we actually delivered - Part 1</a:t>
            </a:r>
            <a:endParaRPr sz="2400"/>
          </a:p>
        </p:txBody>
      </p:sp>
      <p:sp>
        <p:nvSpPr>
          <p:cNvPr id="238" name="Google Shape;238;p48"/>
          <p:cNvSpPr txBox="1"/>
          <p:nvPr>
            <p:ph idx="2" type="title"/>
          </p:nvPr>
        </p:nvSpPr>
        <p:spPr>
          <a:xfrm>
            <a:off x="133609" y="136843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03</a:t>
            </a:r>
            <a:endParaRPr sz="3600"/>
          </a:p>
        </p:txBody>
      </p:sp>
      <p:graphicFrame>
        <p:nvGraphicFramePr>
          <p:cNvPr id="239" name="Google Shape;239;p48"/>
          <p:cNvGraphicFramePr/>
          <p:nvPr/>
        </p:nvGraphicFramePr>
        <p:xfrm>
          <a:off x="855825" y="87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{3D79AE46-7497-45A1-AD55-3B5B6F1FCD43}</a:tableStyleId>
              </a:tblPr>
              <a:tblGrid>
                <a:gridCol w="2497350"/>
                <a:gridCol w="2497350"/>
                <a:gridCol w="2497350"/>
              </a:tblGrid>
              <a:tr h="41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Week 1: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Week 2: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Week 3: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Set up shared development environment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Review technical feasibility and constraints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Identify and prepare the development environment for Sprint 2 implementation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Research user needs and accessibility considerations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Create initial chatbot interaction wireframe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Refine chatbot interface design and accessibility features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Define technical architecture and technology stack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Reviewing existing chatbot implementation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Define sprint 2 technical implementation approach.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Analyse initial client requirements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Define MVP requirements and acceptance criteria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Establish possible user stories for chatbot testing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Create meeting template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Develop user interaction flow for the improved chatbot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Coordinate Sprint 1 findings and coordinate playback preparations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Coordinate Sprint 1 requirements and documentation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9"/>
          <p:cNvSpPr txBox="1"/>
          <p:nvPr>
            <p:ph type="title"/>
          </p:nvPr>
        </p:nvSpPr>
        <p:spPr>
          <a:xfrm>
            <a:off x="855851" y="189192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Actual Achievement: What we actually delivered - Part 2</a:t>
            </a:r>
            <a:endParaRPr sz="2400"/>
          </a:p>
        </p:txBody>
      </p:sp>
      <p:sp>
        <p:nvSpPr>
          <p:cNvPr id="245" name="Google Shape;245;p49"/>
          <p:cNvSpPr txBox="1"/>
          <p:nvPr>
            <p:ph idx="2" type="title"/>
          </p:nvPr>
        </p:nvSpPr>
        <p:spPr>
          <a:xfrm>
            <a:off x="133609" y="136843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03</a:t>
            </a:r>
            <a:endParaRPr sz="3600"/>
          </a:p>
        </p:txBody>
      </p:sp>
      <p:pic>
        <p:nvPicPr>
          <p:cNvPr id="246" name="Google Shape;2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34" y="1467231"/>
            <a:ext cx="2597915" cy="260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7515" y="1467231"/>
            <a:ext cx="2431007" cy="260654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9"/>
          <p:cNvSpPr txBox="1"/>
          <p:nvPr/>
        </p:nvSpPr>
        <p:spPr>
          <a:xfrm>
            <a:off x="534650" y="878140"/>
            <a:ext cx="2598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00" lIns="101800" spcFirstLastPara="1" rIns="101800" wrap="square" tIns="10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chemeClr val="dk1"/>
                </a:solidFill>
              </a:rPr>
              <a:t>Team environment in client repository</a:t>
            </a:r>
            <a:endParaRPr sz="1425">
              <a:solidFill>
                <a:schemeClr val="dk1"/>
              </a:solidFill>
            </a:endParaRPr>
          </a:p>
        </p:txBody>
      </p:sp>
      <p:sp>
        <p:nvSpPr>
          <p:cNvPr id="249" name="Google Shape;249;p49"/>
          <p:cNvSpPr txBox="1"/>
          <p:nvPr/>
        </p:nvSpPr>
        <p:spPr>
          <a:xfrm>
            <a:off x="3194051" y="878162"/>
            <a:ext cx="2733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00" lIns="101800" spcFirstLastPara="1" rIns="101800" wrap="square" tIns="10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chemeClr val="dk1"/>
                </a:solidFill>
              </a:rPr>
              <a:t>User stories to test chatbot against</a:t>
            </a:r>
            <a:endParaRPr sz="1425">
              <a:solidFill>
                <a:schemeClr val="dk1"/>
              </a:solidFill>
            </a:endParaRPr>
          </a:p>
        </p:txBody>
      </p:sp>
      <p:pic>
        <p:nvPicPr>
          <p:cNvPr id="250" name="Google Shape;25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3397" y="1450674"/>
            <a:ext cx="3130677" cy="3173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9"/>
          <p:cNvSpPr txBox="1"/>
          <p:nvPr/>
        </p:nvSpPr>
        <p:spPr>
          <a:xfrm>
            <a:off x="5989351" y="878149"/>
            <a:ext cx="2733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00" lIns="101800" spcFirstLastPara="1" rIns="101800" wrap="square" tIns="10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chemeClr val="dk1"/>
                </a:solidFill>
              </a:rPr>
              <a:t>Example Figma frames depicting chatbot interaction</a:t>
            </a:r>
            <a:endParaRPr sz="142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type="title"/>
          </p:nvPr>
        </p:nvSpPr>
        <p:spPr>
          <a:xfrm>
            <a:off x="855851" y="189192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Why It Matters</a:t>
            </a:r>
            <a:endParaRPr sz="2400"/>
          </a:p>
        </p:txBody>
      </p:sp>
      <p:sp>
        <p:nvSpPr>
          <p:cNvPr id="257" name="Google Shape;257;p50"/>
          <p:cNvSpPr txBox="1"/>
          <p:nvPr>
            <p:ph idx="2" type="title"/>
          </p:nvPr>
        </p:nvSpPr>
        <p:spPr>
          <a:xfrm>
            <a:off x="133609" y="136843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04</a:t>
            </a:r>
            <a:endParaRPr sz="3600"/>
          </a:p>
        </p:txBody>
      </p:sp>
      <p:sp>
        <p:nvSpPr>
          <p:cNvPr id="258" name="Google Shape;258;p50"/>
          <p:cNvSpPr txBox="1"/>
          <p:nvPr/>
        </p:nvSpPr>
        <p:spPr>
          <a:xfrm>
            <a:off x="698525" y="1046125"/>
            <a:ext cx="23559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For the user: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More accessible interaction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Clearer information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More personalised assistance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59" name="Google Shape;259;p50"/>
          <p:cNvSpPr txBox="1"/>
          <p:nvPr/>
        </p:nvSpPr>
        <p:spPr>
          <a:xfrm>
            <a:off x="6089575" y="1046125"/>
            <a:ext cx="23559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For the project: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Clearer foundation for development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Reduction of uncertainty before development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Priorities established for Sprint 2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60" name="Google Shape;260;p50"/>
          <p:cNvSpPr txBox="1"/>
          <p:nvPr/>
        </p:nvSpPr>
        <p:spPr>
          <a:xfrm>
            <a:off x="3394050" y="1046125"/>
            <a:ext cx="23559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For the client: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Improves existing functionality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Better support for their users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Clearer path to implementation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1"/>
          <p:cNvSpPr txBox="1"/>
          <p:nvPr>
            <p:ph type="title"/>
          </p:nvPr>
        </p:nvSpPr>
        <p:spPr>
          <a:xfrm>
            <a:off x="855851" y="189192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Blockers  &amp; Open Questions </a:t>
            </a:r>
            <a:endParaRPr sz="2400"/>
          </a:p>
        </p:txBody>
      </p:sp>
      <p:sp>
        <p:nvSpPr>
          <p:cNvPr id="266" name="Google Shape;266;p51"/>
          <p:cNvSpPr txBox="1"/>
          <p:nvPr>
            <p:ph idx="2" type="title"/>
          </p:nvPr>
        </p:nvSpPr>
        <p:spPr>
          <a:xfrm>
            <a:off x="133609" y="136843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05</a:t>
            </a:r>
            <a:endParaRPr sz="3600"/>
          </a:p>
        </p:txBody>
      </p:sp>
      <p:sp>
        <p:nvSpPr>
          <p:cNvPr id="267" name="Google Shape;267;p51"/>
          <p:cNvSpPr txBox="1"/>
          <p:nvPr>
            <p:ph idx="4294967295" type="body"/>
          </p:nvPr>
        </p:nvSpPr>
        <p:spPr>
          <a:xfrm>
            <a:off x="543525" y="1345000"/>
            <a:ext cx="377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Hotel/Booking database: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Awaiting information - Team has identified this as important information to gather before starting Sprint 2.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We will inquire about this during our client meeting tomorrow.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p51"/>
          <p:cNvSpPr txBox="1"/>
          <p:nvPr>
            <p:ph idx="4294967295" type="body"/>
          </p:nvPr>
        </p:nvSpPr>
        <p:spPr>
          <a:xfrm>
            <a:off x="4828275" y="1345000"/>
            <a:ext cx="377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Chat history retention: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Should chatbot conversations be stored? Or should they be temporary only?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We will also inquire about this during the client meeting tomorrow.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2"/>
          <p:cNvSpPr txBox="1"/>
          <p:nvPr>
            <p:ph type="title"/>
          </p:nvPr>
        </p:nvSpPr>
        <p:spPr>
          <a:xfrm>
            <a:off x="855851" y="189192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Task Allocation &amp; Time Spent</a:t>
            </a:r>
            <a:endParaRPr sz="2400"/>
          </a:p>
        </p:txBody>
      </p:sp>
      <p:sp>
        <p:nvSpPr>
          <p:cNvPr id="274" name="Google Shape;274;p52"/>
          <p:cNvSpPr txBox="1"/>
          <p:nvPr>
            <p:ph idx="2" type="title"/>
          </p:nvPr>
        </p:nvSpPr>
        <p:spPr>
          <a:xfrm>
            <a:off x="133609" y="136843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06</a:t>
            </a:r>
            <a:endParaRPr sz="3600"/>
          </a:p>
        </p:txBody>
      </p:sp>
      <p:graphicFrame>
        <p:nvGraphicFramePr>
          <p:cNvPr id="275" name="Google Shape;275;p5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{3D79AE46-7497-45A1-AD55-3B5B6F1FCD43}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Member: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Task(s):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</a:rPr>
                        <a:t>Hours: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PM - Johanne Gutierrez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9 (540min)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Dev - Sean Mojica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10 (600min)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Dev - Nguyen Phuong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10 (600min)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BA - Ethan Dalianis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13 (720min)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UX - Rajvansh Padda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9 (540min)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3"/>
          <p:cNvSpPr txBox="1"/>
          <p:nvPr>
            <p:ph type="title"/>
          </p:nvPr>
        </p:nvSpPr>
        <p:spPr>
          <a:xfrm>
            <a:off x="855851" y="189192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Timeline &amp; Next Steps</a:t>
            </a:r>
            <a:endParaRPr sz="2400"/>
          </a:p>
        </p:txBody>
      </p:sp>
      <p:sp>
        <p:nvSpPr>
          <p:cNvPr id="281" name="Google Shape;281;p53"/>
          <p:cNvSpPr txBox="1"/>
          <p:nvPr>
            <p:ph idx="2" type="title"/>
          </p:nvPr>
        </p:nvSpPr>
        <p:spPr>
          <a:xfrm>
            <a:off x="133609" y="136843"/>
            <a:ext cx="1373100" cy="7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07</a:t>
            </a:r>
            <a:endParaRPr sz="3600"/>
          </a:p>
        </p:txBody>
      </p:sp>
      <p:sp>
        <p:nvSpPr>
          <p:cNvPr id="282" name="Google Shape;282;p53"/>
          <p:cNvSpPr txBox="1"/>
          <p:nvPr>
            <p:ph idx="4294967295" type="body"/>
          </p:nvPr>
        </p:nvSpPr>
        <p:spPr>
          <a:xfrm>
            <a:off x="449238" y="989275"/>
            <a:ext cx="3849600" cy="3847800"/>
          </a:xfrm>
          <a:prstGeom prst="rect">
            <a:avLst/>
          </a:prstGeom>
        </p:spPr>
        <p:txBody>
          <a:bodyPr anchorCtr="0" anchor="t" bIns="94325" lIns="94325" spcFirstLastPara="1" rIns="94325" wrap="square" tIns="9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Timeline: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Client meetings with YAF: 07/08, 14/08, 21/08, 11/09 - Fridays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Internal meetings: 05/08, 12/08, 19/08, 26/08, 09/09 - Every Wednesday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Supervisor meetings: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Tech w/Naresh - 17/08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Non-tech w/Leon - 27/08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Playback - 10/09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1238"/>
              </a:spcAft>
              <a:buNone/>
            </a:pPr>
            <a:r>
              <a:t/>
            </a:r>
            <a:endParaRPr sz="1754">
              <a:solidFill>
                <a:schemeClr val="dk1"/>
              </a:solidFill>
            </a:endParaRPr>
          </a:p>
        </p:txBody>
      </p:sp>
      <p:sp>
        <p:nvSpPr>
          <p:cNvPr id="283" name="Google Shape;283;p53"/>
          <p:cNvSpPr txBox="1"/>
          <p:nvPr>
            <p:ph idx="4294967295" type="body"/>
          </p:nvPr>
        </p:nvSpPr>
        <p:spPr>
          <a:xfrm>
            <a:off x="4845166" y="989275"/>
            <a:ext cx="3849600" cy="3847800"/>
          </a:xfrm>
          <a:prstGeom prst="rect">
            <a:avLst/>
          </a:prstGeom>
        </p:spPr>
        <p:txBody>
          <a:bodyPr anchorCtr="0" anchor="t" bIns="94325" lIns="94325" spcFirstLastPara="1" rIns="94325" wrap="square" tIns="9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What’s happening next sprint: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38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Improvement of the chatbot functionality:</a:t>
            </a:r>
            <a:endParaRPr>
              <a:solidFill>
                <a:schemeClr val="dk1"/>
              </a:solidFill>
            </a:endParaRPr>
          </a:p>
          <a:p>
            <a:pPr indent="-350178" lvl="0" marL="471755" rtl="0" algn="l">
              <a:spcBef>
                <a:spcPts val="1238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Text response with detailed information pertaining to user needs</a:t>
            </a:r>
            <a:endParaRPr>
              <a:solidFill>
                <a:schemeClr val="dk1"/>
              </a:solidFill>
            </a:endParaRPr>
          </a:p>
          <a:p>
            <a:pPr indent="-350178" lvl="0" marL="47175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Supporting information/links/pictures to give the user more to work with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4"/>
          <p:cNvSpPr txBox="1"/>
          <p:nvPr>
            <p:ph type="title"/>
          </p:nvPr>
        </p:nvSpPr>
        <p:spPr>
          <a:xfrm>
            <a:off x="449251" y="288717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Ethan Dalianis (BA)</a:t>
            </a:r>
            <a:endParaRPr sz="2400"/>
          </a:p>
        </p:txBody>
      </p:sp>
      <p:sp>
        <p:nvSpPr>
          <p:cNvPr id="289" name="Google Shape;289;p54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Sprint 1 Weeks 1 &amp; 2: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Reviewed and confirmed client requirements.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Defined the core problem: Improving accessibility for travel for disabled users.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Agreed on 10 functional requirements and 6 design requirements for the development team to utilise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Locked in technical restraints: Using the clients AI API and trusted database only.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5"/>
          <p:cNvSpPr txBox="1"/>
          <p:nvPr>
            <p:ph type="title"/>
          </p:nvPr>
        </p:nvSpPr>
        <p:spPr>
          <a:xfrm>
            <a:off x="449251" y="288717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Ethan Dalianis (BA)</a:t>
            </a:r>
            <a:endParaRPr sz="2400"/>
          </a:p>
        </p:txBody>
      </p:sp>
      <p:sp>
        <p:nvSpPr>
          <p:cNvPr id="295" name="Google Shape;295;p55"/>
          <p:cNvSpPr txBox="1"/>
          <p:nvPr>
            <p:ph idx="4294967295" type="body"/>
          </p:nvPr>
        </p:nvSpPr>
        <p:spPr>
          <a:xfrm>
            <a:off x="311700" y="1152475"/>
            <a:ext cx="8520600" cy="23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Sprint 1 Week 3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Refined the MVP requirements into 12 prioritised user stories.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Clear acceptance criteria in the user stories.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Prioritised the user stories using MoSCoW style must have 6, Should have 2 and 4 could have.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6"/>
          <p:cNvSpPr txBox="1"/>
          <p:nvPr>
            <p:ph type="title"/>
          </p:nvPr>
        </p:nvSpPr>
        <p:spPr>
          <a:xfrm>
            <a:off x="449251" y="288717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(UX)</a:t>
            </a:r>
            <a:endParaRPr sz="2400"/>
          </a:p>
        </p:txBody>
      </p:sp>
      <p:sp>
        <p:nvSpPr>
          <p:cNvPr id="301" name="Google Shape;301;p56"/>
          <p:cNvSpPr txBox="1"/>
          <p:nvPr>
            <p:ph idx="4294967295" type="body"/>
          </p:nvPr>
        </p:nvSpPr>
        <p:spPr>
          <a:xfrm>
            <a:off x="311700" y="1152475"/>
            <a:ext cx="5058600" cy="23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1: Week 1,2 &amp; 3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Researched</a:t>
            </a:r>
            <a:r>
              <a:rPr lang="en-GB"/>
              <a:t> user needs and </a:t>
            </a:r>
            <a:r>
              <a:rPr lang="en-GB"/>
              <a:t>requirements</a:t>
            </a:r>
            <a:r>
              <a:rPr lang="en-GB"/>
              <a:t> for Persons with </a:t>
            </a:r>
            <a:r>
              <a:rPr lang="en-GB"/>
              <a:t>accessibility</a:t>
            </a:r>
            <a:r>
              <a:rPr lang="en-GB"/>
              <a:t> needs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Created Base Wireframes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Refined Wireframes according to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Created and documented Refined designs for chat bot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Created Working Prototype for Chat bot</a:t>
            </a:r>
            <a:endParaRPr/>
          </a:p>
        </p:txBody>
      </p:sp>
      <p:pic>
        <p:nvPicPr>
          <p:cNvPr id="302" name="Google Shape;30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125" y="615067"/>
            <a:ext cx="1886729" cy="3913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2075" y="644336"/>
            <a:ext cx="1886725" cy="385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7"/>
          <p:cNvSpPr txBox="1"/>
          <p:nvPr>
            <p:ph type="title"/>
          </p:nvPr>
        </p:nvSpPr>
        <p:spPr>
          <a:xfrm>
            <a:off x="449251" y="288717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(UX)</a:t>
            </a:r>
            <a:endParaRPr sz="2400"/>
          </a:p>
        </p:txBody>
      </p:sp>
      <p:sp>
        <p:nvSpPr>
          <p:cNvPr id="309" name="Google Shape;309;p57"/>
          <p:cNvSpPr txBox="1"/>
          <p:nvPr>
            <p:ph idx="4294967295" type="body"/>
          </p:nvPr>
        </p:nvSpPr>
        <p:spPr>
          <a:xfrm>
            <a:off x="311700" y="1152475"/>
            <a:ext cx="4785000" cy="23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Figma Design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Completed Figma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Prototypes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 u="sng">
                <a:solidFill>
                  <a:schemeClr val="hlink"/>
                </a:solidFill>
                <a:hlinkClick r:id="rId4"/>
              </a:rPr>
              <a:t>Dark Mode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u="sng">
                <a:solidFill>
                  <a:schemeClr val="hlink"/>
                </a:solidFill>
                <a:hlinkClick r:id="rId5"/>
              </a:rPr>
              <a:t>Light mode</a:t>
            </a:r>
            <a:endParaRPr sz="1100"/>
          </a:p>
        </p:txBody>
      </p:sp>
      <p:pic>
        <p:nvPicPr>
          <p:cNvPr id="310" name="Google Shape;310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9125" y="615067"/>
            <a:ext cx="1886729" cy="3913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2075" y="644336"/>
            <a:ext cx="1886725" cy="385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8"/>
          <p:cNvSpPr txBox="1"/>
          <p:nvPr>
            <p:ph type="title"/>
          </p:nvPr>
        </p:nvSpPr>
        <p:spPr>
          <a:xfrm>
            <a:off x="449251" y="288717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Nguyen Phuong Vo (Dev)</a:t>
            </a:r>
            <a:endParaRPr sz="2400"/>
          </a:p>
        </p:txBody>
      </p:sp>
      <p:sp>
        <p:nvSpPr>
          <p:cNvPr id="317" name="Google Shape;317;p58"/>
          <p:cNvSpPr txBox="1"/>
          <p:nvPr>
            <p:ph idx="4294967295" type="body"/>
          </p:nvPr>
        </p:nvSpPr>
        <p:spPr>
          <a:xfrm>
            <a:off x="375250" y="1155650"/>
            <a:ext cx="48288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Sprint 1: Week 1 &amp; 2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Set up repository and documented requirements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Reviewed YAF backend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Refined requirements and user flow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Identified technical risks and dependencies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8" name="Google Shape;318;p58"/>
          <p:cNvPicPr preferRelativeResize="0"/>
          <p:nvPr/>
        </p:nvPicPr>
        <p:blipFill rotWithShape="1">
          <a:blip r:embed="rId3">
            <a:alphaModFix/>
          </a:blip>
          <a:srcRect b="0" l="0" r="28001" t="2544"/>
          <a:stretch/>
        </p:blipFill>
        <p:spPr>
          <a:xfrm>
            <a:off x="5204050" y="1253961"/>
            <a:ext cx="3564700" cy="2066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9"/>
          <p:cNvSpPr txBox="1"/>
          <p:nvPr>
            <p:ph type="title"/>
          </p:nvPr>
        </p:nvSpPr>
        <p:spPr>
          <a:xfrm>
            <a:off x="449251" y="288717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Nguyen Phuong Vo (Dev)</a:t>
            </a:r>
            <a:endParaRPr sz="2400"/>
          </a:p>
        </p:txBody>
      </p:sp>
      <p:sp>
        <p:nvSpPr>
          <p:cNvPr id="324" name="Google Shape;324;p59"/>
          <p:cNvSpPr txBox="1"/>
          <p:nvPr>
            <p:ph idx="4294967295" type="body"/>
          </p:nvPr>
        </p:nvSpPr>
        <p:spPr>
          <a:xfrm>
            <a:off x="449250" y="1152475"/>
            <a:ext cx="73395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Sprint 1: Week 3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Reviewed key YAF backend and AI components for Sprint 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Verified dependencies and successfully ran the backend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Created the Team B integration branch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Documented remaining dependencies and confirmed local codebase readiness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0"/>
          <p:cNvSpPr txBox="1"/>
          <p:nvPr>
            <p:ph type="title"/>
          </p:nvPr>
        </p:nvSpPr>
        <p:spPr>
          <a:xfrm>
            <a:off x="449251" y="288717"/>
            <a:ext cx="82455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Sean Renzo Mojica(Dev)</a:t>
            </a:r>
            <a:endParaRPr sz="2400"/>
          </a:p>
        </p:txBody>
      </p:sp>
      <p:sp>
        <p:nvSpPr>
          <p:cNvPr id="330" name="Google Shape;330;p60"/>
          <p:cNvSpPr txBox="1"/>
          <p:nvPr>
            <p:ph idx="4294967295" type="body"/>
          </p:nvPr>
        </p:nvSpPr>
        <p:spPr>
          <a:xfrm>
            <a:off x="311700" y="1152475"/>
            <a:ext cx="8520600" cy="30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1: Week 1 - 3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up document for technical architecture and technology stack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frontend using react and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next.js</a:t>
            </a:r>
            <a:r>
              <a:rPr lang="en-GB"/>
              <a:t> with backend using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node.js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up document for reviewing existing chatbot implementation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Multiple AI providers and PostgreSQL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up document for Sprint 2 technical implementation approach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client-provided hotel or booking API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These documents are put in the github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rline Business Plan by Slidesgo">
  <a:themeElements>
    <a:clrScheme name="Simple Light">
      <a:dk1>
        <a:srgbClr val="302C3E"/>
      </a:dk1>
      <a:lt1>
        <a:srgbClr val="F6F6F6"/>
      </a:lt1>
      <a:dk2>
        <a:srgbClr val="157DD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C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